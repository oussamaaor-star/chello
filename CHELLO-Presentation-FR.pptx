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4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C4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46304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9E9E9E"/>
                </a:solidFill>
                <a:latin typeface="Calibri"/>
              </a:defRPr>
            </a:pPr>
            <a:r>
              <a:t>S O L U T I O N   E - C O M M E R C 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  <a:defRPr sz="7200" b="1">
                <a:solidFill>
                  <a:srgbClr val="FAF8F4"/>
                </a:solidFill>
                <a:latin typeface="Calibri"/>
              </a:defRPr>
            </a:pPr>
            <a:r>
              <a:t>CHELLO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291840"/>
            <a:ext cx="2103120" cy="38100"/>
          </a:xfrm>
          <a:prstGeom prst="rect">
            <a:avLst/>
          </a:prstGeom>
          <a:solidFill>
            <a:srgbClr val="C4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56616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  <a:defRPr sz="2600" b="0">
                <a:solidFill>
                  <a:srgbClr val="F1ECE2"/>
                </a:solidFill>
                <a:latin typeface="Calibri"/>
              </a:defRPr>
            </a:pPr>
            <a:r>
              <a:t>Votre Boutique Digitale Complete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57200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9E9E9E"/>
                </a:solidFill>
                <a:latin typeface="Calibri"/>
              </a:defRPr>
            </a:pPr>
            <a:r>
              <a:t>Al Araimi Boulevard  -  1er etage  -  Seeb, Mascate, Oman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635508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  <a:defRPr sz="1300" b="1">
                <a:solidFill>
                  <a:srgbClr val="18140F"/>
                </a:solidFill>
                <a:latin typeface="Calibri"/>
              </a:defRPr>
            </a:pPr>
            <a:r>
              <a:t>Mode Femme  -  Abayas  -  Sacs  -  Chaussures  -  Parfums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1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defRPr sz="2800" b="1">
                <a:solidFill>
                  <a:srgbClr val="FAF8F4"/>
                </a:solidFill>
                <a:latin typeface="Calibri"/>
              </a:defRPr>
            </a:pPr>
            <a:r>
              <a:t>POURQUOI PASSER AU DIGITAL 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  <a:defRPr sz="2200" b="0">
                <a:solidFill>
                  <a:srgbClr val="18140F"/>
                </a:solidFill>
                <a:latin typeface="Calibri"/>
              </a:defRPr>
            </a:pPr>
            <a:r>
              <a:t>Vos clientes sont en ligne. Vos concurrents sont en ligne.</a:t>
            </a:r>
            <a:br/>
            <a:r>
              <a:t>Chello merite d'y etre aussi - mais en mieux.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743200"/>
            <a:ext cx="352044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2743200"/>
            <a:ext cx="3520440" cy="635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600" b="1">
                <a:solidFill>
                  <a:srgbClr val="C0392B"/>
                </a:solidFill>
                <a:latin typeface="Calibri"/>
              </a:defRPr>
            </a:pPr>
            <a:r>
              <a:t>AUJOURD'HUI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383280"/>
            <a:ext cx="2971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00" b="0">
                <a:solidFill>
                  <a:srgbClr val="18140F"/>
                </a:solidFill>
                <a:latin typeface="Calibri"/>
              </a:defRPr>
            </a:pPr>
          </a:p>
          <a:p>
            <a:pPr>
              <a:lnSpc>
                <a:spcPct val="130000"/>
              </a:lnSpc>
              <a:spcAft>
                <a:spcPts val="800"/>
              </a:spcAft>
              <a:defRPr sz="1400" b="0">
                <a:solidFill>
                  <a:srgbClr val="4A443C"/>
                </a:solidFill>
                <a:latin typeface="Calibri"/>
              </a:defRPr>
            </a:pPr>
            <a:r>
              <a:t>-&gt;  Les clientes ne peuvent acheter qu'en magasin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400" b="0">
                <a:solidFill>
                  <a:srgbClr val="4A443C"/>
                </a:solidFill>
                <a:latin typeface="Calibri"/>
              </a:defRPr>
            </a:pPr>
            <a:r>
              <a:t>-&gt;  Impossible de voir les produits depuis chez soi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400" b="0">
                <a:solidFill>
                  <a:srgbClr val="4A443C"/>
                </a:solidFill>
                <a:latin typeface="Calibri"/>
              </a:defRPr>
            </a:pPr>
            <a:r>
              <a:t>-&gt;  Fidelite suivie sur des cartes papier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400" b="0">
                <a:solidFill>
                  <a:srgbClr val="4A443C"/>
                </a:solidFill>
                <a:latin typeface="Calibri"/>
              </a:defRPr>
            </a:pPr>
            <a:r>
              <a:t>-&gt;  Aucune donnee sur ce qui se vend le mieux</a:t>
            </a:r>
          </a:p>
        </p:txBody>
      </p:sp>
      <p:sp>
        <p:nvSpPr>
          <p:cNvPr id="8" name="Rectangle 7"/>
          <p:cNvSpPr/>
          <p:nvPr/>
        </p:nvSpPr>
        <p:spPr>
          <a:xfrm>
            <a:off x="4343400" y="2743200"/>
            <a:ext cx="352044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2743200"/>
            <a:ext cx="3520440" cy="63500"/>
          </a:xfrm>
          <a:prstGeom prst="rect">
            <a:avLst/>
          </a:prstGeom>
          <a:solidFill>
            <a:srgbClr val="2D8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2971800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600" b="1">
                <a:solidFill>
                  <a:srgbClr val="2D8C4E"/>
                </a:solidFill>
                <a:latin typeface="Calibri"/>
              </a:defRPr>
            </a:pPr>
            <a:r>
              <a:t>AVEC CE SITE WEB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3383280"/>
            <a:ext cx="2971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00" b="0">
                <a:solidFill>
                  <a:srgbClr val="18140F"/>
                </a:solidFill>
                <a:latin typeface="Calibri"/>
              </a:defRPr>
            </a:pPr>
          </a:p>
          <a:p>
            <a:pPr>
              <a:lnSpc>
                <a:spcPct val="130000"/>
              </a:lnSpc>
              <a:spcAft>
                <a:spcPts val="800"/>
              </a:spcAft>
              <a:defRPr sz="1400" b="0">
                <a:solidFill>
                  <a:srgbClr val="4A443C"/>
                </a:solidFill>
                <a:latin typeface="Calibri"/>
              </a:defRPr>
            </a:pPr>
            <a:r>
              <a:t>-&gt;  Vendez 24h/24, meme quand le magasin est ferme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400" b="0">
                <a:solidFill>
                  <a:srgbClr val="4A443C"/>
                </a:solidFill>
                <a:latin typeface="Calibri"/>
              </a:defRPr>
            </a:pPr>
            <a:r>
              <a:t>-&gt;  Catalogue en ligne en arabe et anglais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400" b="0">
                <a:solidFill>
                  <a:srgbClr val="4A443C"/>
                </a:solidFill>
                <a:latin typeface="Calibri"/>
              </a:defRPr>
            </a:pPr>
            <a:r>
              <a:t>-&gt;  Programme fidelite digital - tampons automatiques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400" b="0">
                <a:solidFill>
                  <a:srgbClr val="4A443C"/>
                </a:solidFill>
                <a:latin typeface="Calibri"/>
              </a:defRPr>
            </a:pPr>
            <a:r>
              <a:t>-&gt;  Google Analytics vous montre tout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2743200"/>
            <a:ext cx="352044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38160" y="2743200"/>
            <a:ext cx="3520440" cy="63500"/>
          </a:xfrm>
          <a:prstGeom prst="rect">
            <a:avLst/>
          </a:prstGeom>
          <a:solidFill>
            <a:srgbClr val="C4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2971800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600" b="1">
                <a:solidFill>
                  <a:srgbClr val="C4A86B"/>
                </a:solidFill>
                <a:latin typeface="Calibri"/>
              </a:defRPr>
            </a:pPr>
            <a:r>
              <a:t>LE RESULTAT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3383280"/>
            <a:ext cx="2971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00" b="0">
                <a:solidFill>
                  <a:srgbClr val="18140F"/>
                </a:solidFill>
                <a:latin typeface="Calibri"/>
              </a:defRPr>
            </a:pPr>
          </a:p>
          <a:p>
            <a:pPr>
              <a:lnSpc>
                <a:spcPct val="130000"/>
              </a:lnSpc>
              <a:spcAft>
                <a:spcPts val="800"/>
              </a:spcAft>
              <a:defRPr sz="1400" b="0">
                <a:solidFill>
                  <a:srgbClr val="4A443C"/>
                </a:solidFill>
                <a:latin typeface="Calibri"/>
              </a:defRPr>
            </a:pPr>
            <a:r>
              <a:t>-&gt;  Plus de ventes (nouvelles et existantes clientes)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400" b="0">
                <a:solidFill>
                  <a:srgbClr val="4A443C"/>
                </a:solidFill>
                <a:latin typeface="Calibri"/>
              </a:defRPr>
            </a:pPr>
            <a:r>
              <a:t>-&gt;  Image de marque professionnelle en ligne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400" b="0">
                <a:solidFill>
                  <a:srgbClr val="4A443C"/>
                </a:solidFill>
                <a:latin typeface="Calibri"/>
              </a:defRPr>
            </a:pPr>
            <a:r>
              <a:t>-&gt;  Des clientes fideles qui reviennent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400" b="0">
                <a:solidFill>
                  <a:srgbClr val="4A443C"/>
                </a:solidFill>
                <a:latin typeface="Calibri"/>
              </a:defRPr>
            </a:pPr>
            <a:r>
              <a:t>-&gt;  Des decisions basees sur des donnees reelles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1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defRPr sz="2800" b="1">
                <a:solidFill>
                  <a:srgbClr val="FAF8F4"/>
                </a:solidFill>
                <a:latin typeface="Calibri"/>
              </a:defRPr>
            </a:pPr>
            <a:r>
              <a:t>VOTRE BOUTIQUE EN LIGNE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  <a:defRPr sz="1800" b="0">
                <a:solidFill>
                  <a:srgbClr val="4A443C"/>
                </a:solidFill>
                <a:latin typeface="Calibri"/>
              </a:defRPr>
            </a:pPr>
            <a:r>
              <a:t>Une experience d'achat premium qui reflete l'elegance de votre boutique.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920240"/>
            <a:ext cx="2697480" cy="457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48840"/>
            <a:ext cx="2148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  <a:defRPr sz="1700" b="1">
                <a:solidFill>
                  <a:srgbClr val="18140F"/>
                </a:solidFill>
                <a:latin typeface="Calibri"/>
              </a:defRPr>
            </a:pPr>
            <a:r>
              <a:t>!  Page d'accueil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*  Hero editorial avec typographie elegante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*  Bandeau defilant avec les avantages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*  Grille de categories avec belles images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*  Sections nouveautes et lookbook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*  Localisation avec lien Google Maps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91840" y="1920240"/>
            <a:ext cx="2697480" cy="457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2148840"/>
            <a:ext cx="2148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  <a:defRPr sz="1700" b="1">
                <a:solidFill>
                  <a:srgbClr val="18140F"/>
                </a:solidFill>
                <a:latin typeface="Calibri"/>
              </a:defRPr>
            </a:pPr>
            <a:r>
              <a:t>!  Catalogue produits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*  Grille responsive (2 cols mobile, 4 desktop)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*  Filtrage par categorie (vetements, abayas, sacs...)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*  Badge "Nouveau" sur les produits recents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*  Prix en Rial Omanais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1920240"/>
            <a:ext cx="2697480" cy="457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148840"/>
            <a:ext cx="2148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  <a:defRPr sz="1700" b="1">
                <a:solidFill>
                  <a:srgbClr val="18140F"/>
                </a:solidFill>
                <a:latin typeface="Calibri"/>
              </a:defRPr>
            </a:pPr>
            <a:r>
              <a:t>!  Page produit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*  Galerie d'images avec navigation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*  Selection de taille (S, M, L, XL)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*  Variantes couleur avec pastilles visuelles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*  Guide des tailles interactif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*  Avis clients avec etoiles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*  Bouton commande WhatsApp</a:t>
            </a:r>
          </a:p>
        </p:txBody>
      </p:sp>
      <p:sp>
        <p:nvSpPr>
          <p:cNvPr id="10" name="Rectangle 9"/>
          <p:cNvSpPr/>
          <p:nvPr/>
        </p:nvSpPr>
        <p:spPr>
          <a:xfrm>
            <a:off x="9052559" y="1920240"/>
            <a:ext cx="2697480" cy="457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0" y="2148840"/>
            <a:ext cx="2148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  <a:defRPr sz="1700" b="1">
                <a:solidFill>
                  <a:srgbClr val="18140F"/>
                </a:solidFill>
                <a:latin typeface="Calibri"/>
              </a:defRPr>
            </a:pPr>
            <a:r>
              <a:t>!  Panier &amp; Commande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*  Panier lateral avec apercu rapide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*  Formulaire livraison complet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*  Paiement a la livraison par defaut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*  Page de confirmation de commande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*  Facture PDF telechargeable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1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defRPr sz="2800" b="1">
                <a:solidFill>
                  <a:srgbClr val="FAF8F4"/>
                </a:solidFill>
                <a:latin typeface="Calibri"/>
              </a:defRPr>
            </a:pPr>
            <a:r>
              <a:t>EXPERIENCE CLIENTE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  <a:defRPr sz="1800" b="0">
                <a:solidFill>
                  <a:srgbClr val="4A443C"/>
                </a:solidFill>
                <a:latin typeface="Calibri"/>
              </a:defRPr>
            </a:pPr>
            <a:r>
              <a:t>Offrez a vos clientes un espace personnel ou elles se sentent valorisees et reviennent.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920240"/>
            <a:ext cx="2697480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48840"/>
            <a:ext cx="2148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  <a:defRPr sz="1700" b="1">
                <a:solidFill>
                  <a:srgbClr val="18140F"/>
                </a:solidFill>
                <a:latin typeface="Calibri"/>
              </a:defRPr>
            </a:pPr>
            <a:r>
              <a:t>!  Compte personnel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*  Inscription facile (email + mot de passe)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*  Reinitialisation du mot de passe par email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*  Profil modifiable (nom, telephone, avatar)</a:t>
            </a:r>
          </a:p>
        </p:txBody>
      </p:sp>
      <p:sp>
        <p:nvSpPr>
          <p:cNvPr id="6" name="Rectangle 5"/>
          <p:cNvSpPr/>
          <p:nvPr/>
        </p:nvSpPr>
        <p:spPr>
          <a:xfrm>
            <a:off x="3291840" y="1920240"/>
            <a:ext cx="2697480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2148840"/>
            <a:ext cx="2148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  <a:defRPr sz="1700" b="1">
                <a:solidFill>
                  <a:srgbClr val="18140F"/>
                </a:solidFill>
                <a:latin typeface="Calibri"/>
              </a:defRPr>
            </a:pPr>
            <a:r>
              <a:t>!  Suivi de commandes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*  Historique complet des commandes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*  Suivi en temps reel du statut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*  Recherche par numero de reference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1920240"/>
            <a:ext cx="2697480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148840"/>
            <a:ext cx="2148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  <a:defRPr sz="1700" b="1">
                <a:solidFill>
                  <a:srgbClr val="18140F"/>
                </a:solidFill>
                <a:latin typeface="Calibri"/>
              </a:defRPr>
            </a:pPr>
            <a:r>
              <a:t>!  Carnet d'adresses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*  Sauvegarder plusieurs adresses de livraison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*  Adresse par defaut pour les prochaines commandes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*  Checkout plus rapide la prochaine fois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9052559" y="1920240"/>
            <a:ext cx="2697480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0" y="2148840"/>
            <a:ext cx="2148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  <a:defRPr sz="1700" b="1">
                <a:solidFill>
                  <a:srgbClr val="18140F"/>
                </a:solidFill>
                <a:latin typeface="Calibri"/>
              </a:defRPr>
            </a:pPr>
            <a:r>
              <a:t>!  Favoris &amp; alertes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*  Ajouter des produits en favori (icone coeur)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*  Page dediee avec tous les favoris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*  Alertes stock quand un produit revient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85216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  <a:defRPr sz="1500" b="1">
                <a:solidFill>
                  <a:srgbClr val="C4A86B"/>
                </a:solidFill>
                <a:latin typeface="Calibri"/>
              </a:defRPr>
            </a:pPr>
            <a:r>
              <a:t>Chaque fonctionnalite est concue pour que les clientes se sentent speciales et reviennent.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4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1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defRPr sz="2800" b="1">
                <a:solidFill>
                  <a:srgbClr val="FAF8F4"/>
                </a:solidFill>
                <a:latin typeface="Calibri"/>
              </a:defRPr>
            </a:pPr>
            <a:r>
              <a:t>PROGRAMME FIDELITE - LES FAIRE REVENIR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  <a:defRPr sz="4400" b="1">
                <a:solidFill>
                  <a:srgbClr val="C4A86B"/>
                </a:solidFill>
                <a:latin typeface="Calibri"/>
              </a:defRPr>
            </a:pPr>
            <a:r>
              <a:t>8 Tampons = 1 Recompense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37744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  <a:defRPr sz="1800" b="0">
                <a:solidFill>
                  <a:srgbClr val="F1ECE2"/>
                </a:solidFill>
                <a:latin typeface="Calibri"/>
              </a:defRPr>
            </a:pPr>
            <a:r>
              <a:t>Fonctionne en boutique ET en ligne - entierement automatique, plus de cartes papier.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017520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  <a:defRPr sz="2800" b="0">
                <a:solidFill>
                  <a:srgbClr val="FAF8F4"/>
                </a:solidFill>
                <a:latin typeface="Calibri"/>
              </a:defRPr>
            </a:pPr>
            <a:r>
              <a:t>O  O  O  O  O  O  O  O  -&gt;  CADEAU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931920"/>
            <a:ext cx="352044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4069080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1">
                <a:solidFill>
                  <a:srgbClr val="C4A86B"/>
                </a:solidFill>
                <a:latin typeface="Calibri"/>
              </a:defRPr>
            </a:pPr>
            <a:r>
              <a:t>COMMENT CA MARCHE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4434840"/>
            <a:ext cx="29718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00" b="0">
                <a:solidFill>
                  <a:srgbClr val="18140F"/>
                </a:solidFill>
                <a:latin typeface="Calibri"/>
              </a:defRPr>
            </a:pPr>
          </a:p>
          <a:p>
            <a:pPr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4A443C"/>
                </a:solidFill>
                <a:latin typeface="Calibri"/>
              </a:defRPr>
            </a:pPr>
            <a:r>
              <a:t>*  La cliente s'inscrit avec son numero WhatsApp</a:t>
            </a:r>
          </a:p>
          <a:p>
            <a:pPr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4A443C"/>
                </a:solidFill>
                <a:latin typeface="Calibri"/>
              </a:defRPr>
            </a:pPr>
            <a:r>
              <a:t>*  Code fidelite unique genere automatiquement</a:t>
            </a:r>
          </a:p>
          <a:p>
            <a:pPr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4A443C"/>
                </a:solidFill>
                <a:latin typeface="Calibri"/>
              </a:defRPr>
            </a:pPr>
            <a:r>
              <a:t>*  Carte digitale avec les 8 emplacements de tampons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3931920"/>
            <a:ext cx="352044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4069080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1">
                <a:solidFill>
                  <a:srgbClr val="C4A86B"/>
                </a:solidFill>
                <a:latin typeface="Calibri"/>
              </a:defRPr>
            </a:pPr>
            <a:r>
              <a:t>TAMPONS AUTOMATIQUES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4434840"/>
            <a:ext cx="29718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00" b="0">
                <a:solidFill>
                  <a:srgbClr val="18140F"/>
                </a:solidFill>
                <a:latin typeface="Calibri"/>
              </a:defRPr>
            </a:pPr>
          </a:p>
          <a:p>
            <a:pPr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4A443C"/>
                </a:solidFill>
                <a:latin typeface="Calibri"/>
              </a:defRPr>
            </a:pPr>
            <a:r>
              <a:t>*  En boutique : le caissier trouve la cliente -&gt; tampon apres la vente</a:t>
            </a:r>
          </a:p>
          <a:p>
            <a:pPr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4A443C"/>
                </a:solidFill>
                <a:latin typeface="Calibri"/>
              </a:defRPr>
            </a:pPr>
            <a:r>
              <a:t>*  En ligne : tampon ajoute quand la commande est livree</a:t>
            </a:r>
          </a:p>
          <a:p>
            <a:pPr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4A443C"/>
                </a:solidFill>
                <a:latin typeface="Calibri"/>
              </a:defRPr>
            </a:pPr>
            <a:r>
              <a:t>*  Notification en temps reel quand un tampon est ajoute</a:t>
            </a:r>
          </a:p>
          <a:p>
            <a:pPr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4A443C"/>
                </a:solidFill>
                <a:latin typeface="Calibri"/>
              </a:defRPr>
            </a:pPr>
            <a:r>
              <a:t>*  Anti-fraude : seul le caissier ou le systeme peut tamponner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3931920"/>
            <a:ext cx="352044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4069080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1">
                <a:solidFill>
                  <a:srgbClr val="C4A86B"/>
                </a:solidFill>
                <a:latin typeface="Calibri"/>
              </a:defRPr>
            </a:pPr>
            <a:r>
              <a:t>SIMPLE A UTILISER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4434840"/>
            <a:ext cx="29718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00" b="0">
                <a:solidFill>
                  <a:srgbClr val="18140F"/>
                </a:solidFill>
                <a:latin typeface="Calibri"/>
              </a:defRPr>
            </a:pPr>
          </a:p>
          <a:p>
            <a:pPr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4A443C"/>
                </a:solidFill>
                <a:latin typeface="Calibri"/>
              </a:defRPr>
            </a:pPr>
            <a:r>
              <a:t>*  Les clientes retrouvent leur carte par WhatsApp</a:t>
            </a:r>
          </a:p>
          <a:p>
            <a:pPr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4A443C"/>
                </a:solidFill>
                <a:latin typeface="Calibri"/>
              </a:defRPr>
            </a:pPr>
            <a:r>
              <a:t>*  Nombre de tampons et historique complet</a:t>
            </a:r>
          </a:p>
          <a:p>
            <a:pPr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4A443C"/>
                </a:solidFill>
                <a:latin typeface="Calibri"/>
              </a:defRPr>
            </a:pPr>
            <a:r>
              <a:t>*  Le proprietaire controle la recompense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1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defRPr sz="2800" b="1">
                <a:solidFill>
                  <a:srgbClr val="FAF8F4"/>
                </a:solidFill>
                <a:latin typeface="Calibri"/>
              </a:defRPr>
            </a:pPr>
            <a:r>
              <a:t>DASHBOARD PROPRIETAIRE - CONTROLE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  <a:defRPr sz="1700" b="0">
                <a:solidFill>
                  <a:srgbClr val="4A443C"/>
                </a:solidFill>
                <a:latin typeface="Calibri"/>
              </a:defRPr>
            </a:pPr>
            <a:r>
              <a:t>Gerez tout depuis votre telephone ou votre PC. Acces securise - vous seul pouvez y acceder.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920240"/>
            <a:ext cx="2697480" cy="3840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48840"/>
            <a:ext cx="2148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  <a:defRPr sz="1700" b="1">
                <a:solidFill>
                  <a:srgbClr val="18140F"/>
                </a:solidFill>
                <a:latin typeface="Calibri"/>
              </a:defRPr>
            </a:pPr>
            <a:r>
              <a:t>!  Tableau de bord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*  Chiffre d'affaires en un coup d'oeil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*  Nombre de commandes et de clients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*  Alertes stock faible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*  Graphiques et statistiques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91840" y="1920240"/>
            <a:ext cx="2697480" cy="3840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2148840"/>
            <a:ext cx="2148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  <a:defRPr sz="1700" b="1">
                <a:solidFill>
                  <a:srgbClr val="18140F"/>
                </a:solidFill>
                <a:latin typeface="Calibri"/>
              </a:defRPr>
            </a:pPr>
            <a:r>
              <a:t>!  Commandes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*  Toutes les commandes avec recherche et filtres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*  Changement de statut : Attente -&gt; Confirmee -&gt; Livraison -&gt; Livree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*  Tampon fidelite auto a la livraison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*  Detail complet (produits, montants, adresse)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1920240"/>
            <a:ext cx="2697480" cy="3840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148840"/>
            <a:ext cx="2148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  <a:defRPr sz="1700" b="1">
                <a:solidFill>
                  <a:srgbClr val="18140F"/>
                </a:solidFill>
                <a:latin typeface="Calibri"/>
              </a:defRPr>
            </a:pPr>
            <a:r>
              <a:t>!  Produits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*  Ajouter / modifier / supprimer des produits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*  Upload d'images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*  Gestion tailles, couleurs et stock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*  Categorisation (robes, abayas, sacs, chaussures, parfums)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*  Marquer comme "mis en avant"</a:t>
            </a:r>
          </a:p>
        </p:txBody>
      </p:sp>
      <p:sp>
        <p:nvSpPr>
          <p:cNvPr id="10" name="Rectangle 9"/>
          <p:cNvSpPr/>
          <p:nvPr/>
        </p:nvSpPr>
        <p:spPr>
          <a:xfrm>
            <a:off x="9052559" y="1920240"/>
            <a:ext cx="2697480" cy="3840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0" y="2148840"/>
            <a:ext cx="2148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  <a:defRPr sz="1700" b="1">
                <a:solidFill>
                  <a:srgbClr val="18140F"/>
                </a:solidFill>
                <a:latin typeface="Calibri"/>
              </a:defRPr>
            </a:pPr>
            <a:r>
              <a:t>!  Promotions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*  Creer des codes promo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*  Definir le pourcentage et les dates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*  Activer / desactiver a tout moment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9436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6E6E6E"/>
                </a:solidFill>
                <a:latin typeface="Calibri"/>
              </a:defRPr>
            </a:pPr>
            <a:r>
              <a:t>Inclut aussi : Gestion des utilisateurs  -  Moderation des avis  -  Gestion fidelite  -  Alertes stock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1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defRPr sz="2800" b="1">
                <a:solidFill>
                  <a:srgbClr val="FAF8F4"/>
                </a:solidFill>
                <a:latin typeface="Calibri"/>
              </a:defRPr>
            </a:pPr>
            <a:r>
              <a:t>DASHBOARD CAISSIER - VENTES EN BOUTIQUE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  <a:defRPr sz="1700" b="0">
                <a:solidFill>
                  <a:srgbClr val="4A443C"/>
                </a:solidFill>
                <a:latin typeface="Calibri"/>
              </a:defRPr>
            </a:pPr>
            <a:r>
              <a:t>Votre caissier a une interface simple et dediee. Il peut vendre, gerer les commandes</a:t>
            </a:r>
            <a:br/>
            <a:r>
              <a:t>et tamponner les cartes fidelite - mais il ne peut pas toucher aux produits ni aux reglages.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2286000"/>
            <a:ext cx="2697480" cy="4206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514600"/>
            <a:ext cx="2148840" cy="3840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  <a:defRPr sz="1700" b="1">
                <a:solidFill>
                  <a:srgbClr val="18140F"/>
                </a:solidFill>
                <a:latin typeface="Calibri"/>
              </a:defRPr>
            </a:pPr>
            <a:r>
              <a:t>!  Point de Vente (POS)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*  Grille de produits avec recherche instantanee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*  Ajout au panier avec taille et quantite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*  Telephone client -&gt; recherche auto du membre fidelite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*  Valider la vente -&gt; commande creee en "Confirmee"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*  Tampon fidelite ajoute automatiquement apres la vente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*  Ecran de succes avec statut fidelite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91840" y="2286000"/>
            <a:ext cx="2697480" cy="4206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2514600"/>
            <a:ext cx="2148840" cy="3840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  <a:defRPr sz="1700" b="1">
                <a:solidFill>
                  <a:srgbClr val="18140F"/>
                </a:solidFill>
                <a:latin typeface="Calibri"/>
              </a:defRPr>
            </a:pPr>
            <a:r>
              <a:t>!  Commandes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*  Voir toutes les commandes avec filtres par statut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*  Changer le statut des commandes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*  Tampon fidelite a la livraison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2286000"/>
            <a:ext cx="2697480" cy="4206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514600"/>
            <a:ext cx="2148840" cy="3840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  <a:defRPr sz="1700" b="1">
                <a:solidFill>
                  <a:srgbClr val="18140F"/>
                </a:solidFill>
                <a:latin typeface="Calibri"/>
              </a:defRPr>
            </a:pPr>
            <a:r>
              <a:t>!  Fidelite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*  Recherche par code, telephone ou nom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*  Tampon manuel si necessaire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*  Voir les tampons actuels et l'historique</a:t>
            </a:r>
          </a:p>
        </p:txBody>
      </p:sp>
      <p:sp>
        <p:nvSpPr>
          <p:cNvPr id="10" name="Rectangle 9"/>
          <p:cNvSpPr/>
          <p:nvPr/>
        </p:nvSpPr>
        <p:spPr>
          <a:xfrm>
            <a:off x="9052559" y="2286000"/>
            <a:ext cx="2697480" cy="4206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0" y="2514600"/>
            <a:ext cx="2148840" cy="3840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  <a:defRPr sz="1700" b="1">
                <a:solidFill>
                  <a:srgbClr val="18140F"/>
                </a:solidFill>
                <a:latin typeface="Calibri"/>
              </a:defRPr>
            </a:pPr>
            <a:r>
              <a:t>!  Stock (lecture seule)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*  Voir les niveaux de stock de tous les produits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*  Filtre : en stock / faible / rupture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*  Recherche par nom de produit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*  Ne peut rien modifier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1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defRPr sz="2800" b="1">
                <a:solidFill>
                  <a:srgbClr val="FAF8F4"/>
                </a:solidFill>
                <a:latin typeface="Calibri"/>
              </a:defRPr>
            </a:pPr>
            <a:r>
              <a:t>PERFORMANCE &amp; CONFIANCE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371600"/>
            <a:ext cx="2697480" cy="411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00200"/>
            <a:ext cx="2148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  <a:defRPr sz="1700" b="1">
                <a:solidFill>
                  <a:srgbClr val="18140F"/>
                </a:solidFill>
                <a:latin typeface="Calibri"/>
              </a:defRPr>
            </a:pPr>
            <a:r>
              <a:t>!  Bilingue (Arabe &amp; Anglais)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*  Interface arabe par defaut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*  Bascule anglais dans le header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*  Mise en page droite-a-gauche (RTL) pour l'arabe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*  Polices arabes professionnelles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91840" y="1371600"/>
            <a:ext cx="2697480" cy="411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566160" y="1600200"/>
            <a:ext cx="2148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  <a:defRPr sz="1700" b="1">
                <a:solidFill>
                  <a:srgbClr val="18140F"/>
                </a:solidFill>
                <a:latin typeface="Calibri"/>
              </a:defRPr>
            </a:pPr>
            <a:r>
              <a:t>!  100% Responsive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*  Parfait sur mobile, tablette et desktop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*  Panier et navigation optimises tactile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*  Menu hamburger sur mobile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1371600"/>
            <a:ext cx="2697480" cy="411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600200"/>
            <a:ext cx="2148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  <a:defRPr sz="1700" b="1">
                <a:solidFill>
                  <a:srgbClr val="18140F"/>
                </a:solidFill>
                <a:latin typeface="Calibri"/>
              </a:defRPr>
            </a:pPr>
            <a:r>
              <a:t>!  Google Analytics (Gratuit)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*  Suivre le nombre de visiteurs et leur comportement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*  Voir quels produits sont les plus consultes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*  Savoir d'ou vient votre trafic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*  Consultable depuis votre telephone</a:t>
            </a:r>
          </a:p>
        </p:txBody>
      </p:sp>
      <p:sp>
        <p:nvSpPr>
          <p:cNvPr id="9" name="Rectangle 8"/>
          <p:cNvSpPr/>
          <p:nvPr/>
        </p:nvSpPr>
        <p:spPr>
          <a:xfrm>
            <a:off x="9052559" y="1371600"/>
            <a:ext cx="2697480" cy="411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0" y="1600200"/>
            <a:ext cx="2148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  <a:defRPr sz="1700" b="1">
                <a:solidFill>
                  <a:srgbClr val="18140F"/>
                </a:solidFill>
                <a:latin typeface="Calibri"/>
              </a:defRPr>
            </a:pPr>
            <a:r>
              <a:t>!  Securite &amp; Vitesse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*  Systeme d'authentification securise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*  Acces par role (proprio / caissier / client)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*  Dashboards proteges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*  Chargement rapide avec lazy loading et CDN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*  SEO optimise pour Google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7607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1400" b="1">
                <a:solidFill>
                  <a:srgbClr val="18140F"/>
                </a:solidFill>
                <a:latin typeface="Calibri"/>
              </a:defRPr>
            </a:pPr>
            <a:r>
              <a:t>Pages supplementaires incluses :</a:t>
            </a:r>
          </a:p>
          <a:p>
            <a:pPr>
              <a:lnSpc>
                <a:spcPct val="130000"/>
              </a:lnSpc>
              <a:spcAft>
                <a:spcPts val="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Blog  -  FAQ  -  Contact  -  A propos  -  Mentions legales  -  CGV  -  Politique de confidentialite  -  Livraison &amp; Retours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1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defRPr sz="2800" b="1">
                <a:solidFill>
                  <a:srgbClr val="FAF8F4"/>
                </a:solidFill>
                <a:latin typeface="Calibri"/>
              </a:defRPr>
            </a:pPr>
            <a:r>
              <a:t>PAIEMENT EN LIGNE (OPTIONNEL)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  <a:defRPr sz="1700" b="0">
                <a:solidFill>
                  <a:srgbClr val="4A443C"/>
                </a:solidFill>
                <a:latin typeface="Calibri"/>
              </a:defRPr>
            </a:pPr>
            <a:r>
              <a:t>Le paiement a la livraison est inclus par defaut. Quand vous serez pret,</a:t>
            </a:r>
            <a:br/>
            <a:r>
              <a:t>on pourra activer le paiement par carte avec un de ces prestataires :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286000"/>
            <a:ext cx="338328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3774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18140F"/>
                </a:solidFill>
                <a:latin typeface="Calibri"/>
              </a:defRPr>
            </a:pPr>
            <a:r>
              <a:t>Paymob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74320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300" b="0">
                <a:solidFill>
                  <a:srgbClr val="C4A86B"/>
                </a:solidFill>
                <a:latin typeface="Calibri"/>
              </a:defRPr>
            </a:pPr>
            <a:r>
              <a:t>Le moins cher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175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1">
                <a:solidFill>
                  <a:srgbClr val="2D8C4E"/>
                </a:solidFill>
                <a:latin typeface="Calibri"/>
              </a:defRPr>
            </a:pPr>
            <a:r>
              <a:t>2.5% carte / 1.5% OmanNet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337560"/>
            <a:ext cx="2834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00" b="0">
                <a:solidFill>
                  <a:srgbClr val="18140F"/>
                </a:solidFill>
                <a:latin typeface="Calibri"/>
              </a:defRPr>
            </a:pPr>
          </a:p>
          <a:p>
            <a:pPr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4A443C"/>
                </a:solidFill>
                <a:latin typeface="Calibri"/>
              </a:defRPr>
            </a:pPr>
            <a:r>
              <a:t>V  Frais les plus bas du marche</a:t>
            </a:r>
          </a:p>
          <a:p>
            <a:pPr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4A443C"/>
                </a:solidFill>
                <a:latin typeface="Calibri"/>
              </a:defRPr>
            </a:pPr>
            <a:r>
              <a:t>V  Supporte OmanNet (debit local)</a:t>
            </a:r>
          </a:p>
          <a:p>
            <a:pPr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4A443C"/>
                </a:solidFill>
                <a:latin typeface="Calibri"/>
              </a:defRPr>
            </a:pPr>
            <a:r>
              <a:t>V  Agree par la Banque Centrale d'Oman</a:t>
            </a:r>
          </a:p>
          <a:p>
            <a:pPr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4A443C"/>
                </a:solidFill>
                <a:latin typeface="Calibri"/>
              </a:defRPr>
            </a:pPr>
            <a:r>
              <a:t>V  Inscription gratuite, aucun frais mensuel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2286000"/>
            <a:ext cx="338328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23774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18140F"/>
                </a:solidFill>
                <a:latin typeface="Calibri"/>
              </a:defRPr>
            </a:pPr>
            <a:r>
              <a:t>Thawani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74320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300" b="0">
                <a:solidFill>
                  <a:srgbClr val="C4A86B"/>
                </a:solidFill>
                <a:latin typeface="Calibri"/>
              </a:defRPr>
            </a:pPr>
            <a:r>
              <a:t>Le plus connu en Oman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0175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1">
                <a:solidFill>
                  <a:srgbClr val="2D8C4E"/>
                </a:solidFill>
                <a:latin typeface="Calibri"/>
              </a:defRPr>
            </a:pPr>
            <a:r>
              <a:t>~2.5-3% (sur devis)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337560"/>
            <a:ext cx="2834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00" b="0">
                <a:solidFill>
                  <a:srgbClr val="18140F"/>
                </a:solidFill>
                <a:latin typeface="Calibri"/>
              </a:defRPr>
            </a:pPr>
          </a:p>
          <a:p>
            <a:pPr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4A443C"/>
                </a:solidFill>
                <a:latin typeface="Calibri"/>
              </a:defRPr>
            </a:pPr>
            <a:r>
              <a:t>V  Le plus reconnu en Oman</a:t>
            </a:r>
          </a:p>
          <a:p>
            <a:pPr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4A443C"/>
                </a:solidFill>
                <a:latin typeface="Calibri"/>
              </a:defRPr>
            </a:pPr>
            <a:r>
              <a:t>V  Supporte OmanNet</a:t>
            </a:r>
          </a:p>
          <a:p>
            <a:pPr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4A443C"/>
                </a:solidFill>
                <a:latin typeface="Calibri"/>
              </a:defRPr>
            </a:pPr>
            <a:r>
              <a:t>V  Agree par la Banque Centrale d'Oman</a:t>
            </a:r>
          </a:p>
          <a:p>
            <a:pPr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4A443C"/>
                </a:solidFill>
                <a:latin typeface="Calibri"/>
              </a:defRPr>
            </a:pPr>
            <a:r>
              <a:t>V  Utilise par les commerces omanais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2286000"/>
            <a:ext cx="338328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23774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18140F"/>
                </a:solidFill>
                <a:latin typeface="Calibri"/>
              </a:defRPr>
            </a:pPr>
            <a:r>
              <a:t>Tap Payments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74320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300" b="0">
                <a:solidFill>
                  <a:srgbClr val="C4A86B"/>
                </a:solidFill>
                <a:latin typeface="Calibri"/>
              </a:defRPr>
            </a:pPr>
            <a:r>
              <a:t>Portee internationale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0175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1">
                <a:solidFill>
                  <a:srgbClr val="2D8C4E"/>
                </a:solidFill>
                <a:latin typeface="Calibri"/>
              </a:defRPr>
            </a:pPr>
            <a:r>
              <a:t>~2.75%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3337560"/>
            <a:ext cx="2834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00" b="0">
                <a:solidFill>
                  <a:srgbClr val="18140F"/>
                </a:solidFill>
                <a:latin typeface="Calibri"/>
              </a:defRPr>
            </a:pPr>
          </a:p>
          <a:p>
            <a:pPr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4A443C"/>
                </a:solidFill>
                <a:latin typeface="Calibri"/>
              </a:defRPr>
            </a:pPr>
            <a:r>
              <a:t>V  Supporte OmanNet directement</a:t>
            </a:r>
          </a:p>
          <a:p>
            <a:pPr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4A443C"/>
                </a:solidFill>
                <a:latin typeface="Calibri"/>
              </a:defRPr>
            </a:pPr>
            <a:r>
              <a:t>V  Support Apple Pay</a:t>
            </a:r>
          </a:p>
          <a:p>
            <a:pPr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4A443C"/>
                </a:solidFill>
                <a:latin typeface="Calibri"/>
              </a:defRPr>
            </a:pPr>
            <a:r>
              <a:t>V  Agree par la Banque Centrale d'Oman</a:t>
            </a:r>
          </a:p>
          <a:p>
            <a:pPr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4A443C"/>
                </a:solidFill>
                <a:latin typeface="Calibri"/>
              </a:defRPr>
            </a:pPr>
            <a:r>
              <a:t>V  Forte presence dans le GCC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66928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  <a:defRPr sz="1500" b="0">
                <a:solidFill>
                  <a:srgbClr val="18140F"/>
                </a:solidFill>
                <a:latin typeface="Calibri"/>
              </a:defRPr>
            </a:pPr>
            <a:r>
              <a:t>Exemple : Sur une vente de 10 OMR, la commission est de ~0.25 OMR. Aucun frais d'inscription. Aucun abonnement.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E6E6E"/>
                </a:solidFill>
                <a:latin typeface="Calibri"/>
              </a:defRPr>
            </a:pPr>
            <a:r>
              <a:t>Documents requis : Registre commercial (CR) + Piece d'identite + Compte bancaire commercial + Logo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4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1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defRPr sz="2800" b="1">
                <a:solidFill>
                  <a:srgbClr val="FAF8F4"/>
                </a:solidFill>
                <a:latin typeface="Calibri"/>
              </a:defRPr>
            </a:pPr>
            <a:r>
              <a:t>COMBIEN CA COUTERAIT SUR SHOPIFY 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  <a:defRPr sz="1700" b="0">
                <a:solidFill>
                  <a:srgbClr val="F1ECE2"/>
                </a:solidFill>
                <a:latin typeface="Calibri"/>
              </a:defRPr>
            </a:pPr>
            <a:r>
              <a:t>Chaque fonctionnalite de ce site a un equivalent sur Shopify - mais elles coutent toutes en plus, chaque mois.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920240"/>
            <a:ext cx="10698480" cy="411480"/>
          </a:xfrm>
          <a:prstGeom prst="rect">
            <a:avLst/>
          </a:prstGeom>
          <a:solidFill>
            <a:srgbClr val="C4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3852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300" b="1">
                <a:solidFill>
                  <a:srgbClr val="18140F"/>
                </a:solidFill>
                <a:latin typeface="Calibri"/>
              </a:defRPr>
            </a:pPr>
            <a:r>
              <a:t>FONCTIONNALITE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93852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300" b="1">
                <a:solidFill>
                  <a:srgbClr val="18140F"/>
                </a:solidFill>
                <a:latin typeface="Calibri"/>
              </a:defRPr>
            </a:pPr>
            <a:r>
              <a:t>EQUIVALENT SHOPIFY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193852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  <a:defRPr sz="1300" b="1">
                <a:solidFill>
                  <a:srgbClr val="18140F"/>
                </a:solidFill>
                <a:latin typeface="Calibri"/>
              </a:defRPr>
            </a:pPr>
            <a:r>
              <a:t>COUT MENSUEL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377440"/>
            <a:ext cx="10698480" cy="384048"/>
          </a:xfrm>
          <a:prstGeom prst="rect">
            <a:avLst/>
          </a:prstGeom>
          <a:solidFill>
            <a:srgbClr val="2A2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39572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300" b="0">
                <a:solidFill>
                  <a:srgbClr val="F1ECE2"/>
                </a:solidFill>
                <a:latin typeface="Calibri"/>
              </a:defRPr>
            </a:pPr>
            <a:r>
              <a:t>Boutique e-commerce (catalogue, panier, checkout)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239572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300" b="0">
                <a:solidFill>
                  <a:srgbClr val="9E9E9E"/>
                </a:solidFill>
                <a:latin typeface="Calibri"/>
              </a:defRPr>
            </a:pPr>
            <a:r>
              <a:t>Shopify Basic 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239572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  <a:defRPr sz="1400" b="1">
                <a:solidFill>
                  <a:srgbClr val="C0392B"/>
                </a:solidFill>
                <a:latin typeface="Calibri"/>
              </a:defRPr>
            </a:pPr>
            <a:r>
              <a:t>$39/mois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761488"/>
            <a:ext cx="10698480" cy="384048"/>
          </a:xfrm>
          <a:prstGeom prst="rect">
            <a:avLst/>
          </a:prstGeom>
          <a:solidFill>
            <a:srgbClr val="221E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77977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300" b="0">
                <a:solidFill>
                  <a:srgbClr val="F1ECE2"/>
                </a:solidFill>
                <a:latin typeface="Calibri"/>
              </a:defRPr>
            </a:pPr>
            <a:r>
              <a:t>Point de vente - systeme caissier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779776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300" b="0">
                <a:solidFill>
                  <a:srgbClr val="9E9E9E"/>
                </a:solidFill>
                <a:latin typeface="Calibri"/>
              </a:defRPr>
            </a:pPr>
            <a:r>
              <a:t>Shopify POS Pro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0" y="277977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  <a:defRPr sz="1400" b="1">
                <a:solidFill>
                  <a:srgbClr val="C0392B"/>
                </a:solidFill>
                <a:latin typeface="Calibri"/>
              </a:defRPr>
            </a:pPr>
            <a:r>
              <a:t>$89/mois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145536"/>
            <a:ext cx="10698480" cy="384048"/>
          </a:xfrm>
          <a:prstGeom prst="rect">
            <a:avLst/>
          </a:prstGeom>
          <a:solidFill>
            <a:srgbClr val="2A2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16382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300" b="0">
                <a:solidFill>
                  <a:srgbClr val="F1ECE2"/>
                </a:solidFill>
                <a:latin typeface="Calibri"/>
              </a:defRPr>
            </a:pPr>
            <a:r>
              <a:t>Programme fidelite (tampons &amp; recompenses)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316382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300" b="0">
                <a:solidFill>
                  <a:srgbClr val="9E9E9E"/>
                </a:solidFill>
                <a:latin typeface="Calibri"/>
              </a:defRPr>
            </a:pPr>
            <a:r>
              <a:t>Smile.io (Growth)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3163824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  <a:defRPr sz="1400" b="1">
                <a:solidFill>
                  <a:srgbClr val="C0392B"/>
                </a:solidFill>
                <a:latin typeface="Calibri"/>
              </a:defRPr>
            </a:pPr>
            <a:r>
              <a:t>$99-199/mois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3529584"/>
            <a:ext cx="10698480" cy="384048"/>
          </a:xfrm>
          <a:prstGeom prst="rect">
            <a:avLst/>
          </a:prstGeom>
          <a:solidFill>
            <a:srgbClr val="221E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54787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300" b="0">
                <a:solidFill>
                  <a:srgbClr val="F1ECE2"/>
                </a:solidFill>
                <a:latin typeface="Calibri"/>
              </a:defRPr>
            </a:pPr>
            <a:r>
              <a:t>Avis clients sur les produits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354787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300" b="0">
                <a:solidFill>
                  <a:srgbClr val="9E9E9E"/>
                </a:solidFill>
                <a:latin typeface="Calibri"/>
              </a:defRPr>
            </a:pPr>
            <a:r>
              <a:t>Judge.me / Loox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354787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  <a:defRPr sz="1400" b="1">
                <a:solidFill>
                  <a:srgbClr val="C0392B"/>
                </a:solidFill>
                <a:latin typeface="Calibri"/>
              </a:defRPr>
            </a:pPr>
            <a:r>
              <a:t>$15-50/mois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3913632"/>
            <a:ext cx="10698480" cy="384048"/>
          </a:xfrm>
          <a:prstGeom prst="rect">
            <a:avLst/>
          </a:prstGeom>
          <a:solidFill>
            <a:srgbClr val="2A2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393192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300" b="0">
                <a:solidFill>
                  <a:srgbClr val="F1ECE2"/>
                </a:solidFill>
                <a:latin typeface="Calibri"/>
              </a:defRPr>
            </a:pPr>
            <a:r>
              <a:t>Bilingue arabe/anglais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393192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300" b="0">
                <a:solidFill>
                  <a:srgbClr val="9E9E9E"/>
                </a:solidFill>
                <a:latin typeface="Calibri"/>
              </a:defRPr>
            </a:pPr>
            <a:r>
              <a:t>Langify / Weglot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39319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  <a:defRPr sz="1400" b="1">
                <a:solidFill>
                  <a:srgbClr val="C0392B"/>
                </a:solidFill>
                <a:latin typeface="Calibri"/>
              </a:defRPr>
            </a:pPr>
            <a:r>
              <a:t>$15-32/mois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4297680"/>
            <a:ext cx="10698480" cy="457200"/>
          </a:xfrm>
          <a:prstGeom prst="rect">
            <a:avLst/>
          </a:prstGeom>
          <a:solidFill>
            <a:srgbClr val="C4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43434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1">
                <a:solidFill>
                  <a:srgbClr val="18140F"/>
                </a:solidFill>
                <a:latin typeface="Calibri"/>
              </a:defRPr>
            </a:pPr>
            <a:r>
              <a:t>TOTAL MENSUEL SHOPIFY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0" y="43434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  <a:defRPr sz="1600" b="1">
                <a:solidFill>
                  <a:srgbClr val="18140F"/>
                </a:solidFill>
                <a:latin typeface="Calibri"/>
              </a:defRPr>
            </a:pPr>
            <a:r>
              <a:t>$257-409/mois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493776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1600" b="1">
                <a:solidFill>
                  <a:srgbClr val="C0392B"/>
                </a:solidFill>
                <a:latin typeface="Calibri"/>
              </a:defRPr>
            </a:pPr>
            <a:r>
              <a:t>Shopify : 1ere annee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defRPr sz="3600" b="1">
                <a:solidFill>
                  <a:srgbClr val="C0392B"/>
                </a:solidFill>
                <a:latin typeface="Calibri"/>
              </a:defRPr>
            </a:pPr>
            <a:r>
              <a:t>$3,099 - $4,923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E9E9E"/>
                </a:solidFill>
                <a:latin typeface="Calibri"/>
              </a:defRPr>
            </a:pPr>
            <a:r>
              <a:t>Et vous payez ca CHAQUE annee.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493776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1600" b="1">
                <a:solidFill>
                  <a:srgbClr val="C0392B"/>
                </a:solidFill>
                <a:latin typeface="Calibri"/>
              </a:defRPr>
            </a:pPr>
            <a:r>
              <a:t>Shopify : Sur 3 ans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defRPr sz="3600" b="1">
                <a:solidFill>
                  <a:srgbClr val="C0392B"/>
                </a:solidFill>
                <a:latin typeface="Calibri"/>
              </a:defRPr>
            </a:pPr>
            <a:r>
              <a:t>$9,297 - $14,769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E9E9E"/>
                </a:solidFill>
                <a:latin typeface="Calibri"/>
              </a:defRPr>
            </a:pPr>
            <a:r>
              <a:t>Juste pour les abonnements. Sans compter les frais de transaction.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1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defRPr sz="2800" b="1">
                <a:solidFill>
                  <a:srgbClr val="FAF8F4"/>
                </a:solidFill>
                <a:latin typeface="Calibri"/>
              </a:defRPr>
            </a:pPr>
            <a:r>
              <a:t>SHOPIFY vs. CE SITE WEB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80160"/>
            <a:ext cx="5303520" cy="512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5303520" cy="635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2400" b="1">
                <a:solidFill>
                  <a:srgbClr val="C0392B"/>
                </a:solidFill>
                <a:latin typeface="Calibri"/>
              </a:defRPr>
            </a:pPr>
            <a:r>
              <a:t>SHOPIFY + APPS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00" b="0">
                <a:solidFill>
                  <a:srgbClr val="18140F"/>
                </a:solidFill>
                <a:latin typeface="Calibri"/>
              </a:defRPr>
            </a:pPr>
          </a:p>
          <a:p>
            <a:pPr>
              <a:lnSpc>
                <a:spcPct val="130000"/>
              </a:lnSpc>
              <a:spcAft>
                <a:spcPts val="8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X  Cout 1ere annee :  $3,099 - $4,923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X  Cout sur 3 ans :  $9,297 - $14,769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X  Abonnement mensuel :  $257 - $409/mois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X  Frais de transaction :  2.9% + $0.30 + 2% si gateway externe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X  POS en boutique :  $89/mois en plus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X  Fidelite + tampons auto :  $99-199/mois en plus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X  Design sur mesure :  $180-350 (theme seulement)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X  Vous possedez le code :  Non - vous le louez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280160"/>
            <a:ext cx="5303520" cy="512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09360" y="1280160"/>
            <a:ext cx="5303520" cy="63500"/>
          </a:xfrm>
          <a:prstGeom prst="rect">
            <a:avLst/>
          </a:prstGeom>
          <a:solidFill>
            <a:srgbClr val="2D8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2400" b="1">
                <a:solidFill>
                  <a:srgbClr val="2D8C4E"/>
                </a:solidFill>
                <a:latin typeface="Calibri"/>
              </a:defRPr>
            </a:pPr>
            <a:r>
              <a:t>CE SITE 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01168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00" b="0">
                <a:solidFill>
                  <a:srgbClr val="18140F"/>
                </a:solidFill>
                <a:latin typeface="Calibri"/>
              </a:defRPr>
            </a:pPr>
          </a:p>
          <a:p>
            <a:pPr>
              <a:lnSpc>
                <a:spcPct val="130000"/>
              </a:lnSpc>
              <a:spcAft>
                <a:spcPts val="8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V  Cout 1ere annee :  Paiement unique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V  Cout sur 3 ans :  $0 supplementaire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V  Abonnement mensuel :  $0/mois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V  Frais de transaction :  ~2.5% (gateway uniquement)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V  POS en boutique :  Inclus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V  Fidelite + tampons auto :  Inclus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V  Design sur mesure :  Inclus - editorial luxe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V  Vous possedez le code :  Oui - c'est le votre pour toujours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  <a:defRPr sz="1600" b="1">
                <a:solidFill>
                  <a:srgbClr val="18140F"/>
                </a:solidFill>
                <a:latin typeface="Calibri"/>
              </a:defRPr>
            </a:pPr>
            <a:r>
              <a:t>"Avec Shopify, vous louez un service. Avec ce site, vous possedez votre plateforme."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1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defRPr sz="2800" b="1">
                <a:solidFill>
                  <a:srgbClr val="FAF8F4"/>
                </a:solidFill>
                <a:latin typeface="Calibri"/>
              </a:defRPr>
            </a:pPr>
            <a:r>
              <a:t>VOS COUTS DE FONCTIONNEMENT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  <a:defRPr sz="1700" b="0">
                <a:solidFill>
                  <a:srgbClr val="4A443C"/>
                </a:solidFill>
                <a:latin typeface="Calibri"/>
              </a:defRPr>
            </a:pPr>
            <a:r>
              <a:t>Apres le paiement unique, voici ce que coute le maintien du site :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011680"/>
            <a:ext cx="10698480" cy="411480"/>
          </a:xfrm>
          <a:prstGeom prst="rect">
            <a:avLst/>
          </a:prstGeom>
          <a:solidFill>
            <a:srgbClr val="181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048256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200" b="1">
                <a:solidFill>
                  <a:srgbClr val="FAF8F4"/>
                </a:solidFill>
                <a:latin typeface="Calibri"/>
              </a:defRPr>
            </a:pPr>
            <a:r>
              <a:t>POSTE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204825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200" b="1">
                <a:solidFill>
                  <a:srgbClr val="FAF8F4"/>
                </a:solidFill>
                <a:latin typeface="Calibri"/>
              </a:defRPr>
            </a:pPr>
            <a:r>
              <a:t>COUT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048256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200" b="1">
                <a:solidFill>
                  <a:srgbClr val="FAF8F4"/>
                </a:solidFill>
                <a:latin typeface="Calibri"/>
              </a:defRPr>
            </a:pPr>
            <a:r>
              <a:t>STATUT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2048256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200" b="1">
                <a:solidFill>
                  <a:srgbClr val="FAF8F4"/>
                </a:solidFill>
                <a:latin typeface="Calibri"/>
              </a:defRPr>
            </a:pPr>
            <a:r>
              <a:t>DETAILS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468880"/>
            <a:ext cx="106984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53288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300" b="1">
                <a:solidFill>
                  <a:srgbClr val="18140F"/>
                </a:solidFill>
                <a:latin typeface="Calibri"/>
              </a:defRPr>
            </a:pPr>
            <a:r>
              <a:t>Nom de domaine (.com)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53288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300" b="1">
                <a:solidFill>
                  <a:srgbClr val="18140F"/>
                </a:solidFill>
                <a:latin typeface="Calibri"/>
              </a:defRPr>
            </a:pPr>
            <a:r>
              <a:t>~10-15 $/an (~4-6 OMR/an)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532888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200" b="0">
                <a:solidFill>
                  <a:srgbClr val="6E6E6E"/>
                </a:solidFill>
                <a:latin typeface="Calibri"/>
              </a:defRPr>
            </a:pPr>
            <a:r>
              <a:t>Recommande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2532888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100" b="0">
                <a:solidFill>
                  <a:srgbClr val="4A443C"/>
                </a:solidFill>
                <a:latin typeface="Calibri"/>
              </a:defRPr>
            </a:pPr>
            <a:r>
              <a:t>Votre adresse web pro (ex: chello-store.com)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971800"/>
            <a:ext cx="10698480" cy="502920"/>
          </a:xfrm>
          <a:prstGeom prst="rect">
            <a:avLst/>
          </a:prstGeom>
          <a:solidFill>
            <a:srgbClr val="F1E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03580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300" b="1">
                <a:solidFill>
                  <a:srgbClr val="18140F"/>
                </a:solidFill>
                <a:latin typeface="Calibri"/>
              </a:defRPr>
            </a:pPr>
            <a:r>
              <a:t>Hebergement du site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303580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300" b="1">
                <a:solidFill>
                  <a:srgbClr val="2D8C4E"/>
                </a:solidFill>
                <a:latin typeface="Calibri"/>
              </a:defRPr>
            </a:pPr>
            <a:r>
              <a:t>GRATUIT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3035808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200" b="0">
                <a:solidFill>
                  <a:srgbClr val="6E6E6E"/>
                </a:solidFill>
                <a:latin typeface="Calibri"/>
              </a:defRPr>
            </a:pPr>
            <a:r>
              <a:t>Inclus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3035808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100" b="0">
                <a:solidFill>
                  <a:srgbClr val="4A443C"/>
                </a:solidFill>
                <a:latin typeface="Calibri"/>
              </a:defRPr>
            </a:pPr>
            <a:r>
              <a:t>Deploiements illimites, 100GB bande passante, CDN mondial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474720"/>
            <a:ext cx="106984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538727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300" b="1">
                <a:solidFill>
                  <a:srgbClr val="18140F"/>
                </a:solidFill>
                <a:latin typeface="Calibri"/>
              </a:defRPr>
            </a:pPr>
            <a:r>
              <a:t>Base de donnees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3538727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300" b="1">
                <a:solidFill>
                  <a:srgbClr val="2D8C4E"/>
                </a:solidFill>
                <a:latin typeface="Calibri"/>
              </a:defRPr>
            </a:pPr>
            <a:r>
              <a:t>GRATUIT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3538727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200" b="0">
                <a:solidFill>
                  <a:srgbClr val="6E6E6E"/>
                </a:solidFill>
                <a:latin typeface="Calibri"/>
              </a:defRPr>
            </a:pPr>
            <a:r>
              <a:t>Inclus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3538727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100" b="0">
                <a:solidFill>
                  <a:srgbClr val="4A443C"/>
                </a:solidFill>
                <a:latin typeface="Calibri"/>
              </a:defRPr>
            </a:pPr>
            <a:r>
              <a:t>500MB stockage, 50 000 utilisateurs/mois, API illimitees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3977639"/>
            <a:ext cx="10698480" cy="502920"/>
          </a:xfrm>
          <a:prstGeom prst="rect">
            <a:avLst/>
          </a:prstGeom>
          <a:solidFill>
            <a:srgbClr val="F1E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04164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300" b="1">
                <a:solidFill>
                  <a:srgbClr val="18140F"/>
                </a:solidFill>
                <a:latin typeface="Calibri"/>
              </a:defRPr>
            </a:pPr>
            <a:r>
              <a:t>Commission paiement carte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404164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300" b="1">
                <a:solidFill>
                  <a:srgbClr val="18140F"/>
                </a:solidFill>
                <a:latin typeface="Calibri"/>
              </a:defRPr>
            </a:pPr>
            <a:r>
              <a:t>~2.5% par vente carte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4041648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200" b="0">
                <a:solidFill>
                  <a:srgbClr val="6E6E6E"/>
                </a:solidFill>
                <a:latin typeface="Calibri"/>
              </a:defRPr>
            </a:pPr>
            <a:r>
              <a:t>Si active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4041648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100" b="0">
                <a:solidFill>
                  <a:srgbClr val="4A443C"/>
                </a:solidFill>
                <a:latin typeface="Calibri"/>
              </a:defRPr>
            </a:pPr>
            <a:r>
              <a:t>Pas de frais si on reste en paiement a la livraison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86000" y="4754879"/>
            <a:ext cx="7589520" cy="1097280"/>
          </a:xfrm>
          <a:prstGeom prst="rect">
            <a:avLst/>
          </a:prstGeom>
          <a:solidFill>
            <a:srgbClr val="181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560320" y="4846319"/>
            <a:ext cx="7040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  <a:defRPr sz="1400" b="1">
                <a:solidFill>
                  <a:srgbClr val="C4A86B"/>
                </a:solidFill>
                <a:latin typeface="Calibri"/>
              </a:defRPr>
            </a:pPr>
            <a:r>
              <a:t>COUT FIXE ANNUEL TOTAL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60320" y="5166359"/>
            <a:ext cx="7040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  <a:defRPr sz="2000" b="1">
                <a:solidFill>
                  <a:srgbClr val="FAF8F4"/>
                </a:solidFill>
                <a:latin typeface="Calibri"/>
              </a:defRPr>
            </a:pPr>
            <a:r>
              <a:t>~5 OMR/an  +  commissions uniquement si paiement carte active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  <a:defRPr sz="1500" b="0">
                <a:solidFill>
                  <a:srgbClr val="4A443C"/>
                </a:solidFill>
                <a:latin typeface="Calibri"/>
              </a:defRPr>
            </a:pPr>
            <a:r>
              <a:t>Le site ne coute quasiment rien a maintenir. Hebergement et base de donnees sont gratuits.</a:t>
            </a:r>
            <a:br/>
            <a:r>
              <a:t>Le seul cout recurrent est un nom de domaine pro (~5 OMR/an).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4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1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defRPr sz="2800" b="1">
                <a:solidFill>
                  <a:srgbClr val="FAF8F4"/>
                </a:solidFill>
                <a:latin typeface="Calibri"/>
              </a:defRPr>
            </a:pPr>
            <a:r>
              <a:t>CE QUE SHOPIFY NE PEUT PAS OFFRIR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  <a:defRPr sz="1800" b="0">
                <a:solidFill>
                  <a:srgbClr val="F1ECE2"/>
                </a:solidFill>
                <a:latin typeface="Calibri"/>
              </a:defRPr>
            </a:pPr>
            <a:r>
              <a:t>Meme en payant tous ces abonnements Shopify, vous n'auriez toujours pas :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011680"/>
            <a:ext cx="5029200" cy="640080"/>
          </a:xfrm>
          <a:prstGeom prst="rect">
            <a:avLst/>
          </a:prstGeom>
          <a:solidFill>
            <a:srgbClr val="2A2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1031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C4A86B"/>
                </a:solidFill>
                <a:latin typeface="Calibri"/>
              </a:defRPr>
            </a:pPr>
            <a:r>
              <a:t>*  Dashboard proprietaire personnalise avec analytics sur mesure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2011680"/>
            <a:ext cx="5029200" cy="640080"/>
          </a:xfrm>
          <a:prstGeom prst="rect">
            <a:avLst/>
          </a:prstGeom>
          <a:solidFill>
            <a:srgbClr val="2A2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37960" y="21031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C4A86B"/>
                </a:solidFill>
                <a:latin typeface="Calibri"/>
              </a:defRPr>
            </a:pPr>
            <a:r>
              <a:t>*  Tampons fidelite integres au POS - tampon auto a chaque vente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788920"/>
            <a:ext cx="5029200" cy="640080"/>
          </a:xfrm>
          <a:prstGeom prst="rect">
            <a:avLst/>
          </a:prstGeom>
          <a:solidFill>
            <a:srgbClr val="2A2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8803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C4A86B"/>
                </a:solidFill>
                <a:latin typeface="Calibri"/>
              </a:defRPr>
            </a:pPr>
            <a:r>
              <a:t>*  Tampon automatique quand une commande en ligne est livree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2788920"/>
            <a:ext cx="5029200" cy="640080"/>
          </a:xfrm>
          <a:prstGeom prst="rect">
            <a:avLst/>
          </a:prstGeom>
          <a:solidFill>
            <a:srgbClr val="2A2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28803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C4A86B"/>
                </a:solidFill>
                <a:latin typeface="Calibri"/>
              </a:defRPr>
            </a:pPr>
            <a:r>
              <a:t>*  Guide des tailles interactif avec mesures reelles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3566160"/>
            <a:ext cx="5029200" cy="640080"/>
          </a:xfrm>
          <a:prstGeom prst="rect">
            <a:avLst/>
          </a:prstGeom>
          <a:solidFill>
            <a:srgbClr val="2A2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6576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C4A86B"/>
                </a:solidFill>
                <a:latin typeface="Calibri"/>
              </a:defRPr>
            </a:pPr>
            <a:r>
              <a:t>*  Variantes couleur avec pastilles visuelles elegantes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3566160"/>
            <a:ext cx="5029200" cy="640080"/>
          </a:xfrm>
          <a:prstGeom prst="rect">
            <a:avLst/>
          </a:prstGeom>
          <a:solidFill>
            <a:srgbClr val="2A2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36576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C4A86B"/>
                </a:solidFill>
                <a:latin typeface="Calibri"/>
              </a:defRPr>
            </a:pPr>
            <a:r>
              <a:t>*  Design editorial luxe 100% sur mesure (pas un template)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343400"/>
            <a:ext cx="5029200" cy="640080"/>
          </a:xfrm>
          <a:prstGeom prst="rect">
            <a:avLst/>
          </a:prstGeom>
          <a:solidFill>
            <a:srgbClr val="2A2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44348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C4A86B"/>
                </a:solidFill>
                <a:latin typeface="Calibri"/>
              </a:defRPr>
            </a:pPr>
            <a:r>
              <a:t>*  Interface caissier simplifiee - faite pour votre personnel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4343400"/>
            <a:ext cx="5029200" cy="640080"/>
          </a:xfrm>
          <a:prstGeom prst="rect">
            <a:avLst/>
          </a:prstGeom>
          <a:solidFill>
            <a:srgbClr val="2A2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44348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C4A86B"/>
                </a:solidFill>
                <a:latin typeface="Calibri"/>
              </a:defRPr>
            </a:pPr>
            <a:r>
              <a:t>*  Zero frais de transaction supplementaires (pas de surcharge Shopify)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5120640"/>
            <a:ext cx="5029200" cy="640080"/>
          </a:xfrm>
          <a:prstGeom prst="rect">
            <a:avLst/>
          </a:prstGeom>
          <a:solidFill>
            <a:srgbClr val="2A2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5212079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C4A86B"/>
                </a:solidFill>
                <a:latin typeface="Calibri"/>
              </a:defRPr>
            </a:pPr>
            <a:r>
              <a:t>*  Hebergement gratuit et base de donnees gratuite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1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defRPr sz="2800" b="1">
                <a:solidFill>
                  <a:srgbClr val="FAF8F4"/>
                </a:solidFill>
                <a:latin typeface="Calibri"/>
              </a:defRPr>
            </a:pPr>
            <a:r>
              <a:t>TOUT EST INCLUS - UN SEUL PACKAGE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200" b="0">
                <a:solidFill>
                  <a:srgbClr val="18140F"/>
                </a:solidFill>
                <a:latin typeface="Calibri"/>
              </a:defRPr>
            </a:pPr>
            <a:r>
              <a:t>V  Site e-commerce complet (accueil, catalogue, produits, panier, commande)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993391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200" b="0">
                <a:solidFill>
                  <a:srgbClr val="18140F"/>
                </a:solidFill>
                <a:latin typeface="Calibri"/>
              </a:defRPr>
            </a:pPr>
            <a:r>
              <a:t>V  Interface bilingue - Arabe (defaut) &amp; Anglais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06624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200" b="0">
                <a:solidFill>
                  <a:srgbClr val="18140F"/>
                </a:solidFill>
                <a:latin typeface="Calibri"/>
              </a:defRPr>
            </a:pPr>
            <a:r>
              <a:t>V  Comptes clients (profil, historique, carnet d'adresses, favoris)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19856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200" b="0">
                <a:solidFill>
                  <a:srgbClr val="18140F"/>
                </a:solidFill>
                <a:latin typeface="Calibri"/>
              </a:defRPr>
            </a:pPr>
            <a:r>
              <a:t>V  Programme fidelite (8 tampons = recompense) - boutique &amp; en ligne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33087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200" b="0">
                <a:solidFill>
                  <a:srgbClr val="18140F"/>
                </a:solidFill>
                <a:latin typeface="Calibri"/>
              </a:defRPr>
            </a:pPr>
            <a:r>
              <a:t>V  Dashboard proprio (produits, commandes, promos, users, avis, fidelite, alertes)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84632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200" b="0">
                <a:solidFill>
                  <a:srgbClr val="18140F"/>
                </a:solidFill>
                <a:latin typeface="Calibri"/>
              </a:defRPr>
            </a:pPr>
            <a:r>
              <a:t>V  Dashboard caissier avec POS (point de vente) complet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559552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200" b="0">
                <a:solidFill>
                  <a:srgbClr val="18140F"/>
                </a:solidFill>
                <a:latin typeface="Calibri"/>
              </a:defRPr>
            </a:pPr>
            <a:r>
              <a:t>V  Avis clients avec moderation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128016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200" b="0">
                <a:solidFill>
                  <a:srgbClr val="18140F"/>
                </a:solidFill>
                <a:latin typeface="Calibri"/>
              </a:defRPr>
            </a:pPr>
            <a:r>
              <a:t>V  Guide des tailles interactif (vetements + chaussures)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1993391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200" b="0">
                <a:solidFill>
                  <a:srgbClr val="18140F"/>
                </a:solidFill>
                <a:latin typeface="Calibri"/>
              </a:defRPr>
            </a:pPr>
            <a:r>
              <a:t>V  Selection de variantes couleur avec pastilles visuelles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706624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200" b="0">
                <a:solidFill>
                  <a:srgbClr val="18140F"/>
                </a:solidFill>
                <a:latin typeface="Calibri"/>
              </a:defRPr>
            </a:pPr>
            <a:r>
              <a:t>V  Integration Google Analytics (gratuit)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3419856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200" b="0">
                <a:solidFill>
                  <a:srgbClr val="18140F"/>
                </a:solidFill>
                <a:latin typeface="Calibri"/>
              </a:defRPr>
            </a:pPr>
            <a:r>
              <a:t>V  Integration WhatsApp (bouton flottant + liens commande)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4133087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200" b="0">
                <a:solidFill>
                  <a:srgbClr val="18140F"/>
                </a:solidFill>
                <a:latin typeface="Calibri"/>
              </a:defRPr>
            </a:pPr>
            <a:r>
              <a:t>V  Liens Instagram et Google Maps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484632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200" b="0">
                <a:solidFill>
                  <a:srgbClr val="18140F"/>
                </a:solidFill>
                <a:latin typeface="Calibri"/>
              </a:defRPr>
            </a:pPr>
            <a:r>
              <a:t>V  Generation de factures PDF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5559552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200" b="0">
                <a:solidFill>
                  <a:srgbClr val="18140F"/>
                </a:solidFill>
                <a:latin typeface="Calibri"/>
              </a:defRPr>
            </a:pPr>
            <a:r>
              <a:t>V  Pages Blog, FAQ, Contact, A propos, Mentions legales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128016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200" b="0">
                <a:solidFill>
                  <a:srgbClr val="18140F"/>
                </a:solidFill>
                <a:latin typeface="Calibri"/>
              </a:defRPr>
            </a:pPr>
            <a:r>
              <a:t>V  SEO optimise pour Google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1993391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200" b="0">
                <a:solidFill>
                  <a:srgbClr val="18140F"/>
                </a:solidFill>
                <a:latin typeface="Calibri"/>
              </a:defRPr>
            </a:pPr>
            <a:r>
              <a:t>V  Design responsive mobile-first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2706624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200" b="0">
                <a:solidFill>
                  <a:srgbClr val="18140F"/>
                </a:solidFill>
                <a:latin typeface="Calibri"/>
              </a:defRPr>
            </a:pPr>
            <a:r>
              <a:t>V  Identite visuelle editoriale luxe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3419856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200" b="0">
                <a:solidFill>
                  <a:srgbClr val="18140F"/>
                </a:solidFill>
                <a:latin typeface="Calibri"/>
              </a:defRPr>
            </a:pPr>
            <a:r>
              <a:t>V  Paiement en ligne pret (Paymob / Thawani / Tap)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4133087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200" b="0">
                <a:solidFill>
                  <a:srgbClr val="18140F"/>
                </a:solidFill>
                <a:latin typeface="Calibri"/>
              </a:defRPr>
            </a:pPr>
            <a:r>
              <a:t>V  Connexion domaine .com personnalise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484632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200" b="0">
                <a:solidFill>
                  <a:srgbClr val="18140F"/>
                </a:solidFill>
                <a:latin typeface="Calibri"/>
              </a:defRPr>
            </a:pPr>
            <a:r>
              <a:t>V  Hebergement gratuit + base de donnees gratuite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5559552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200" b="0">
                <a:solidFill>
                  <a:srgbClr val="18140F"/>
                </a:solidFill>
                <a:latin typeface="Calibri"/>
              </a:defRPr>
            </a:pPr>
            <a:r>
              <a:t>V  Le code vous appartient - c'est le votre pour toujours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  <a:defRPr sz="1700" b="1">
                <a:solidFill>
                  <a:srgbClr val="C4A86B"/>
                </a:solidFill>
                <a:latin typeface="Calibri"/>
              </a:defRPr>
            </a:pPr>
            <a:r>
              <a:t>21 fonctionnalites.  Un seul paiement.  Zero frais mensuels.  Le code est a vous.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1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defRPr sz="2800" b="1">
                <a:solidFill>
                  <a:srgbClr val="FAF8F4"/>
                </a:solidFill>
                <a:latin typeface="Calibri"/>
              </a:defRPr>
            </a:pPr>
            <a:r>
              <a:t>TROIS ROLES - ACCES CLAIRS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3474720" cy="5029200"/>
          </a:xfrm>
          <a:prstGeom prst="rect">
            <a:avLst/>
          </a:prstGeom>
          <a:solidFill>
            <a:srgbClr val="F1E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5544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2400" b="1">
                <a:solidFill>
                  <a:srgbClr val="18140F"/>
                </a:solidFill>
                <a:latin typeface="Calibri"/>
              </a:defRPr>
            </a:pPr>
            <a:r>
              <a:t>!  CLIENTE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1">
                <a:solidFill>
                  <a:srgbClr val="C4A86B"/>
                </a:solidFill>
                <a:latin typeface="Calibri"/>
              </a:defRPr>
            </a:pPr>
            <a:r>
              <a:t>Site public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2377440"/>
            <a:ext cx="1828800" cy="38100"/>
          </a:xfrm>
          <a:prstGeom prst="rect">
            <a:avLst/>
          </a:prstGeom>
          <a:solidFill>
            <a:srgbClr val="C4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560320"/>
            <a:ext cx="2926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00" b="0">
                <a:solidFill>
                  <a:srgbClr val="18140F"/>
                </a:solidFill>
                <a:latin typeface="Calibri"/>
              </a:defRPr>
            </a:pPr>
          </a:p>
          <a:p>
            <a:pPr>
              <a:lnSpc>
                <a:spcPct val="130000"/>
              </a:lnSpc>
              <a:spcAft>
                <a:spcPts val="6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*  Naviguer et acheter dans le catalogue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*  Creer un compte et sauvegarder son profil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*  Suivre ses commandes en temps reel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*  Gagner des tampons fidelite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*  Sauvegarder ses favoris et recevoir des alertes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*  Laisser des avis sur les produits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59" y="1371600"/>
            <a:ext cx="347472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79" y="15544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2400" b="1">
                <a:solidFill>
                  <a:srgbClr val="18140F"/>
                </a:solidFill>
                <a:latin typeface="Calibri"/>
              </a:defRPr>
            </a:pPr>
            <a:r>
              <a:t>!  CAISSIER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79" y="20116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1">
                <a:solidFill>
                  <a:srgbClr val="C4A86B"/>
                </a:solidFill>
                <a:latin typeface="Calibri"/>
              </a:defRPr>
            </a:pPr>
            <a:r>
              <a:t>Dashboard caisse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79" y="2377440"/>
            <a:ext cx="1828800" cy="38100"/>
          </a:xfrm>
          <a:prstGeom prst="rect">
            <a:avLst/>
          </a:prstGeom>
          <a:solidFill>
            <a:srgbClr val="C4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79" y="2560320"/>
            <a:ext cx="2926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00" b="0">
                <a:solidFill>
                  <a:srgbClr val="18140F"/>
                </a:solidFill>
                <a:latin typeface="Calibri"/>
              </a:defRPr>
            </a:pPr>
          </a:p>
          <a:p>
            <a:pPr>
              <a:lnSpc>
                <a:spcPct val="130000"/>
              </a:lnSpc>
              <a:spcAft>
                <a:spcPts val="6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*  Enregistrer les ventes en boutique (POS)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*  Trouver les membres fidelite par telephone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*  Tampon auto apres chaque vente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*  Voir et mettre a jour les commandes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*  Consulter le stock (lecture seule)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*  Ne peut pas modifier les produits ni les reglages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371600"/>
            <a:ext cx="347472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15544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2400" b="1">
                <a:solidFill>
                  <a:srgbClr val="18140F"/>
                </a:solidFill>
                <a:latin typeface="Calibri"/>
              </a:defRPr>
            </a:pPr>
            <a:r>
              <a:t>!  PROPRIETAIRE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20116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1">
                <a:solidFill>
                  <a:srgbClr val="C4A86B"/>
                </a:solidFill>
                <a:latin typeface="Calibri"/>
              </a:defRPr>
            </a:pPr>
            <a:r>
              <a:t>Dashboard admin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03920" y="2377440"/>
            <a:ext cx="1828800" cy="38100"/>
          </a:xfrm>
          <a:prstGeom prst="rect">
            <a:avLst/>
          </a:prstGeom>
          <a:solidFill>
            <a:srgbClr val="C4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0" y="2560320"/>
            <a:ext cx="2926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00" b="0">
                <a:solidFill>
                  <a:srgbClr val="18140F"/>
                </a:solidFill>
                <a:latin typeface="Calibri"/>
              </a:defRPr>
            </a:pPr>
          </a:p>
          <a:p>
            <a:pPr>
              <a:lnSpc>
                <a:spcPct val="130000"/>
              </a:lnSpc>
              <a:spcAft>
                <a:spcPts val="6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*  Controle total sur tout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*  Gerer produits, commandes, promos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*  Voir les analytics et le chiffre d'affaires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*  Moderer les avis clients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*  Gerer le programme fidelite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*  Attribuer les roles utilisateurs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4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C4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9E9E9E"/>
                </a:solidFill>
                <a:latin typeface="Calibri"/>
              </a:defRPr>
            </a:pPr>
            <a:r>
              <a:t>P R E T   A   D E V E L O P P E R   V O T R E   B U S I N E S S 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  <a:defRPr sz="4800" b="1">
                <a:solidFill>
                  <a:srgbClr val="FAF8F4"/>
                </a:solidFill>
                <a:latin typeface="Calibri"/>
              </a:defRPr>
            </a:pPr>
            <a:r>
              <a:t>Construisons Chello en Ligne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017520"/>
            <a:ext cx="2103120" cy="38100"/>
          </a:xfrm>
          <a:prstGeom prst="rect">
            <a:avLst/>
          </a:prstGeom>
          <a:solidFill>
            <a:srgbClr val="C4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0" y="3474720"/>
            <a:ext cx="7589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00" b="0">
                <a:solidFill>
                  <a:srgbClr val="FAF8F4"/>
                </a:solidFill>
                <a:latin typeface="Calibri"/>
              </a:defRPr>
            </a:pPr>
          </a:p>
          <a:p>
            <a:pPr>
              <a:lnSpc>
                <a:spcPct val="130000"/>
              </a:lnSpc>
              <a:spcAft>
                <a:spcPts val="1200"/>
              </a:spcAft>
              <a:defRPr sz="1800" b="0">
                <a:solidFill>
                  <a:srgbClr val="F1ECE2"/>
                </a:solidFill>
                <a:latin typeface="Calibri"/>
              </a:defRPr>
            </a:pPr>
            <a:r>
              <a:t>-&gt;  Investissement unique - aucun abonnement mensuel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 b="0">
                <a:solidFill>
                  <a:srgbClr val="F1ECE2"/>
                </a:solidFill>
                <a:latin typeface="Calibri"/>
              </a:defRPr>
            </a:pPr>
            <a:r>
              <a:t>-&gt;  Tout est construit sur mesure pour Chello - pas un template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 b="0">
                <a:solidFill>
                  <a:srgbClr val="F1ECE2"/>
                </a:solidFill>
                <a:latin typeface="Calibri"/>
              </a:defRPr>
            </a:pPr>
            <a:r>
              <a:t>-&gt;  Vous possedez le code pour toujours - pas de dependance fournisseur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 b="0">
                <a:solidFill>
                  <a:srgbClr val="F1ECE2"/>
                </a:solidFill>
                <a:latin typeface="Calibri"/>
              </a:defRPr>
            </a:pPr>
            <a:r>
              <a:t>-&gt;  Couts de fonctionnement quasi nuls (~5 OMR/an)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 b="0">
                <a:solidFill>
                  <a:srgbClr val="F1ECE2"/>
                </a:solidFill>
                <a:latin typeface="Calibri"/>
              </a:defRPr>
            </a:pPr>
            <a:r>
              <a:t>-&gt;  Pret a lancer en quelques semaines, pas en mois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76072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  <a:defRPr sz="2000" b="0">
                <a:solidFill>
                  <a:srgbClr val="C4A86B"/>
                </a:solidFill>
                <a:latin typeface="Calibri"/>
              </a:defRPr>
            </a:pPr>
            <a:r>
              <a:t>Discutons des prochaines etapes.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644652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  <a:defRPr sz="1200" b="0">
                <a:solidFill>
                  <a:srgbClr val="4A443C"/>
                </a:solidFill>
                <a:latin typeface="Calibri"/>
              </a:defRPr>
            </a:pPr>
            <a:r>
              <a:t>Chello - Mode Femme  -  Al Araimi Boulevard, Mascate, Oman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